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Inter Bold" charset="1" panose="02000503000000020004"/>
      <p:regular r:id="rId8"/>
    </p:embeddedFont>
    <p:embeddedFont>
      <p:font typeface="Inter" charset="1" panose="0200050300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95644"/>
            <a:chOff x="0" y="0"/>
            <a:chExt cx="4816593" cy="4992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9264"/>
            </a:xfrm>
            <a:custGeom>
              <a:avLst/>
              <a:gdLst/>
              <a:ahLst/>
              <a:cxnLst/>
              <a:rect r="r" b="b" t="t" l="l"/>
              <a:pathLst>
                <a:path h="49926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9264"/>
                  </a:lnTo>
                  <a:lnTo>
                    <a:pt x="0" y="499264"/>
                  </a:lnTo>
                  <a:close/>
                </a:path>
              </a:pathLst>
            </a:custGeom>
            <a:solidFill>
              <a:srgbClr val="282C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56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GCS Development Status Report</a:t>
              </a:r>
            </a:p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Teleoperation &amp; System Validation Update 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797942" y="2916877"/>
            <a:ext cx="16461358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97942" y="4926528"/>
            <a:ext cx="16461358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97942" y="7240147"/>
            <a:ext cx="16461358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97942" y="3236150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39238" y="2234882"/>
            <a:ext cx="952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97942" y="2460943"/>
            <a:ext cx="462513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ore System Implementation – Completed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50555"/>
            <a:ext cx="4309467" cy="88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Socket-based Client-Server Communication Established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Structured Joystick Data &amp; Button Change Detection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Auto-Reconnect &amp; Exception Handling Implemented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7164" y="3152919"/>
            <a:ext cx="4093220" cy="88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eartbeat Mechanism (Byte Format + Timer Logging)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Module-Level Command Packet Transmission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End-to-End Teleoperation Testing Verified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39237" y="4244534"/>
            <a:ext cx="952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97942" y="4470594"/>
            <a:ext cx="316527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GC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S UI – Functional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068012"/>
            <a:ext cx="3350286" cy="119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eal-time GPS Display (Latitude, Longitude)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umber of Satellites Displayed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Battery Status Indicator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Joystick Monitoring Enabled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77164" y="5068012"/>
            <a:ext cx="4310228" cy="88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Liv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Speed &amp; Heading Information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Live Camera Feed Integration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Window Control Buttons (Minimize / Maximize / Restore)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39237" y="6558153"/>
            <a:ext cx="952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74291" y="6784213"/>
            <a:ext cx="44724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eleoperation Mode – Operational Status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405665"/>
            <a:ext cx="2426064" cy="5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eleoperation Button Functional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PTZ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&amp; IO Controls Enabled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94145" y="7405665"/>
            <a:ext cx="2543638" cy="5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oystick Successfully Connected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Camera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Feed Streaming Properly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77164" y="7405665"/>
            <a:ext cx="2392991" cy="5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orn &amp; Light Controls Working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GPS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&amp; Telemetry Updating Live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08455" y="7405665"/>
            <a:ext cx="2844932" cy="5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otor Movement Control Operational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CRC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Implemented for Data Integrity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97942" y="3538344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97942" y="3842773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048936" y="3235255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97942" y="5447929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97942" y="5752358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97942" y="5143500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039411" y="3821876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3"/>
                </a:lnTo>
                <a:lnTo>
                  <a:pt x="0" y="19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039411" y="3528565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97942" y="6049584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00471" y="7491390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97942" y="7790653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048936" y="5765069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847997" y="7491390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847997" y="7790653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48936" y="5455752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3"/>
                </a:lnTo>
                <a:lnTo>
                  <a:pt x="0" y="19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039411" y="5153737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048936" y="7491390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048936" y="7790653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3" y="0"/>
                </a:lnTo>
                <a:lnTo>
                  <a:pt x="199653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079855" y="7790653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079855" y="7491390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187132"/>
            <a:chOff x="0" y="0"/>
            <a:chExt cx="4816593" cy="312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2660"/>
            </a:xfrm>
            <a:custGeom>
              <a:avLst/>
              <a:gdLst/>
              <a:ahLst/>
              <a:cxnLst/>
              <a:rect r="r" b="b" t="t" l="l"/>
              <a:pathLst>
                <a:path h="3126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2660"/>
                  </a:lnTo>
                  <a:lnTo>
                    <a:pt x="0" y="312660"/>
                  </a:lnTo>
                  <a:close/>
                </a:path>
              </a:pathLst>
            </a:custGeom>
            <a:solidFill>
              <a:srgbClr val="282C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69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Testing Status, System Architecture &amp; Project Summary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797586" y="2007425"/>
            <a:ext cx="7312031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97942" y="2187942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942" y="2490136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7942" y="2794565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9139237" y="2007425"/>
            <a:ext cx="7312031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97586" y="3098994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7586" y="3401189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7586" y="3705618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3"/>
                </a:lnTo>
                <a:lnTo>
                  <a:pt x="0" y="19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97942" y="5229782"/>
            <a:ext cx="200010" cy="202734"/>
          </a:xfrm>
          <a:custGeom>
            <a:avLst/>
            <a:gdLst/>
            <a:ahLst/>
            <a:cxnLst/>
            <a:rect r="r" b="b" t="t" l="l"/>
            <a:pathLst>
              <a:path h="202734" w="200010">
                <a:moveTo>
                  <a:pt x="0" y="0"/>
                </a:moveTo>
                <a:lnTo>
                  <a:pt x="200010" y="0"/>
                </a:lnTo>
                <a:lnTo>
                  <a:pt x="200010" y="202735"/>
                </a:lnTo>
                <a:lnTo>
                  <a:pt x="0" y="20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97586" y="5033489"/>
            <a:ext cx="7312031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97942" y="5532403"/>
            <a:ext cx="200010" cy="202734"/>
          </a:xfrm>
          <a:custGeom>
            <a:avLst/>
            <a:gdLst/>
            <a:ahLst/>
            <a:cxnLst/>
            <a:rect r="r" b="b" t="t" l="l"/>
            <a:pathLst>
              <a:path h="202734" w="200010">
                <a:moveTo>
                  <a:pt x="0" y="0"/>
                </a:moveTo>
                <a:lnTo>
                  <a:pt x="200010" y="0"/>
                </a:lnTo>
                <a:lnTo>
                  <a:pt x="200010" y="202734"/>
                </a:lnTo>
                <a:lnTo>
                  <a:pt x="0" y="20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7942" y="5835024"/>
            <a:ext cx="200010" cy="202734"/>
          </a:xfrm>
          <a:custGeom>
            <a:avLst/>
            <a:gdLst/>
            <a:ahLst/>
            <a:cxnLst/>
            <a:rect r="r" b="b" t="t" l="l"/>
            <a:pathLst>
              <a:path h="202734" w="200010">
                <a:moveTo>
                  <a:pt x="0" y="0"/>
                </a:moveTo>
                <a:lnTo>
                  <a:pt x="200010" y="0"/>
                </a:lnTo>
                <a:lnTo>
                  <a:pt x="200010" y="202734"/>
                </a:lnTo>
                <a:lnTo>
                  <a:pt x="0" y="20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7942" y="6133008"/>
            <a:ext cx="200010" cy="202734"/>
          </a:xfrm>
          <a:custGeom>
            <a:avLst/>
            <a:gdLst/>
            <a:ahLst/>
            <a:cxnLst/>
            <a:rect r="r" b="b" t="t" l="l"/>
            <a:pathLst>
              <a:path h="202734" w="200010">
                <a:moveTo>
                  <a:pt x="0" y="0"/>
                </a:moveTo>
                <a:lnTo>
                  <a:pt x="200010" y="0"/>
                </a:lnTo>
                <a:lnTo>
                  <a:pt x="200010" y="202734"/>
                </a:lnTo>
                <a:lnTo>
                  <a:pt x="0" y="20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97942" y="6430992"/>
            <a:ext cx="200010" cy="202734"/>
          </a:xfrm>
          <a:custGeom>
            <a:avLst/>
            <a:gdLst/>
            <a:ahLst/>
            <a:cxnLst/>
            <a:rect r="r" b="b" t="t" l="l"/>
            <a:pathLst>
              <a:path h="202734" w="200010">
                <a:moveTo>
                  <a:pt x="0" y="0"/>
                </a:moveTo>
                <a:lnTo>
                  <a:pt x="200010" y="0"/>
                </a:lnTo>
                <a:lnTo>
                  <a:pt x="200010" y="202735"/>
                </a:lnTo>
                <a:lnTo>
                  <a:pt x="0" y="20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77338" y="2144560"/>
            <a:ext cx="7273931" cy="486061"/>
            <a:chOff x="0" y="0"/>
            <a:chExt cx="1915795" cy="128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15795" cy="128016"/>
            </a:xfrm>
            <a:custGeom>
              <a:avLst/>
              <a:gdLst/>
              <a:ahLst/>
              <a:cxnLst/>
              <a:rect r="r" b="b" t="t" l="l"/>
              <a:pathLst>
                <a:path h="128016" w="1915795">
                  <a:moveTo>
                    <a:pt x="1915795" y="18094"/>
                  </a:moveTo>
                  <a:lnTo>
                    <a:pt x="1915795" y="109922"/>
                  </a:lnTo>
                  <a:cubicBezTo>
                    <a:pt x="1915795" y="119915"/>
                    <a:pt x="1907694" y="128016"/>
                    <a:pt x="1897701" y="128016"/>
                  </a:cubicBezTo>
                  <a:lnTo>
                    <a:pt x="18094" y="128016"/>
                  </a:lnTo>
                  <a:cubicBezTo>
                    <a:pt x="8101" y="128016"/>
                    <a:pt x="0" y="119915"/>
                    <a:pt x="0" y="109922"/>
                  </a:cubicBezTo>
                  <a:lnTo>
                    <a:pt x="0" y="18094"/>
                  </a:lnTo>
                  <a:cubicBezTo>
                    <a:pt x="0" y="8101"/>
                    <a:pt x="8101" y="0"/>
                    <a:pt x="18094" y="0"/>
                  </a:cubicBezTo>
                  <a:lnTo>
                    <a:pt x="1897701" y="0"/>
                  </a:lnTo>
                  <a:cubicBezTo>
                    <a:pt x="1907694" y="0"/>
                    <a:pt x="1915795" y="8101"/>
                    <a:pt x="1915795" y="18094"/>
                  </a:cubicBezTo>
                  <a:close/>
                </a:path>
              </a:pathLst>
            </a:custGeom>
            <a:solidFill>
              <a:srgbClr val="E7E7E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915795" cy="156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Joystick → GCS Application → TCP Client → CRC Layer → UGV Server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39238" y="2234882"/>
            <a:ext cx="952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97586" y="1629063"/>
            <a:ext cx="4540581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ree-Wheel Drive Mode – Current Testing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102217"/>
            <a:ext cx="4438055" cy="180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Obje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ctive: Validate Control &amp; Stability in Free-Wheel Mode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tor Responsiveness &amp; Steering Accuracy Under Test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Liv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GPS &amp; Heading Validation During Movement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Camera Feed Stability During Motion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Packet Integrity &amp; Communication Monitoring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Comprehensive Teleoperation Validation In Progress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39237" y="4244534"/>
            <a:ext cx="952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148762" y="1629063"/>
            <a:ext cx="407276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Syst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em Communication Architecture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7586" y="4597977"/>
            <a:ext cx="3154330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ending Validation Activities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144057"/>
            <a:ext cx="3576175" cy="149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tended Duration Teleoperation Testing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tency Measurement &amp; Performance Analysis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ilure &amp; Recov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ery Scenario Testing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System Stability Validation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Operational Sign-off After Testing Completion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30064" y="2745691"/>
            <a:ext cx="3643710" cy="119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eartbeat Monitoring Active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lemetry Feedback Loop Implemented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erver Disconnect Detection &amp; Auto-Reconnect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Exception Handling Layer Active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148762" y="2840171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139237" y="3426791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139237" y="3133481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139237" y="3705618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3"/>
                </a:lnTo>
                <a:lnTo>
                  <a:pt x="0" y="199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4" id="34"/>
          <p:cNvSpPr/>
          <p:nvPr/>
        </p:nvSpPr>
        <p:spPr>
          <a:xfrm>
            <a:off x="9139237" y="5033489"/>
            <a:ext cx="7312031" cy="0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39237" y="4597977"/>
            <a:ext cx="190123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Pr</a:t>
            </a:r>
            <a:r>
              <a:rPr lang="en-US" b="true" sz="1799">
                <a:solidFill>
                  <a:srgbClr val="282C6D"/>
                </a:solidFill>
                <a:latin typeface="Inter Bold"/>
                <a:ea typeface="Inter Bold"/>
                <a:cs typeface="Inter Bold"/>
                <a:sym typeface="Inter Bold"/>
              </a:rPr>
              <a:t>oject Summary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30064" y="5144057"/>
            <a:ext cx="3814366" cy="149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ommunication Layer Fully Functional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leoperation Controls Operational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UGV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Functions Working in Teleoperation Mode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GPS, Camera &amp; Battery Monitoring Integrated</a:t>
            </a:r>
          </a:p>
          <a:p>
            <a:pPr algn="l">
              <a:lnSpc>
                <a:spcPts val="2431"/>
              </a:lnSpc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Free-Wheel Drive Testing Ongoing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148762" y="5227418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139237" y="5830346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139237" y="5525917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139237" y="6131439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139237" y="6435868"/>
            <a:ext cx="199654" cy="199654"/>
          </a:xfrm>
          <a:custGeom>
            <a:avLst/>
            <a:gdLst/>
            <a:ahLst/>
            <a:cxnLst/>
            <a:rect r="r" b="b" t="t" l="l"/>
            <a:pathLst>
              <a:path h="199654" w="199654">
                <a:moveTo>
                  <a:pt x="0" y="0"/>
                </a:moveTo>
                <a:lnTo>
                  <a:pt x="199654" y="0"/>
                </a:lnTo>
                <a:lnTo>
                  <a:pt x="199654" y="199654"/>
                </a:lnTo>
                <a:lnTo>
                  <a:pt x="0" y="19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DAG_ytu8a2c</dc:identifier>
  <dcterms:modified xsi:type="dcterms:W3CDTF">2011-08-01T06:04:30Z</dcterms:modified>
  <cp:revision>1</cp:revision>
  <dc:title>Non Text Magic Studio Magic Design for Presentations L&amp;P</dc:title>
</cp:coreProperties>
</file>